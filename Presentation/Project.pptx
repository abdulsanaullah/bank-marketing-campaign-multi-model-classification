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3" r:id="rId5"/>
    <p:sldId id="261" r:id="rId6"/>
    <p:sldId id="262" r:id="rId7"/>
    <p:sldId id="266" r:id="rId8"/>
    <p:sldId id="267" r:id="rId9"/>
    <p:sldId id="263" r:id="rId10"/>
    <p:sldId id="268" r:id="rId11"/>
    <p:sldId id="264" r:id="rId12"/>
    <p:sldId id="265" r:id="rId13"/>
    <p:sldId id="271" r:id="rId14"/>
    <p:sldId id="274" r:id="rId15"/>
    <p:sldId id="276" r:id="rId16"/>
  </p:sldIdLst>
  <p:sldSz cx="12192000" cy="6858000"/>
  <p:notesSz cx="6858000" cy="12192000"/>
  <p:embeddedFontLst>
    <p:embeddedFont>
      <p:font typeface="Montserrat Bold" panose="020B0604020202020204" charset="0"/>
      <p:regular r:id="rId18"/>
    </p:embeddedFont>
    <p:embeddedFont>
      <p:font typeface="Open Sans Extra Bold" panose="020B0604020202020204" charset="0"/>
      <p:regular r:id="rId19"/>
    </p:embeddedFont>
    <p:embeddedFont>
      <p:font typeface="Segoe UI Black" panose="020B0A02040204020203" pitchFamily="34" charset="0"/>
      <p:bold r:id="rId20"/>
      <p:boldItalic r:id="rId21"/>
    </p:embeddedFont>
    <p:embeddedFont>
      <p:font typeface="Segoe UI Historic" panose="020B0502040204020203" pitchFamily="34" charset="0"/>
      <p:regular r:id="rId22"/>
    </p:embeddedFont>
    <p:embeddedFont>
      <p:font typeface="Segoe UI Light" panose="020B0502040204020203" pitchFamily="34" charset="0"/>
      <p:regular r:id="rId23"/>
      <p:italic r:id="rId24"/>
    </p:embeddedFont>
    <p:embeddedFont>
      <p:font typeface="Source Sans 3" panose="020B0604020202020204" charset="0"/>
      <p:regular r:id="rId25"/>
    </p:embeddedFont>
    <p:embeddedFont>
      <p:font typeface="Source Sans 3 Bold" panose="020B060402020202020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54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4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396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905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013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946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73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0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0724" y="1574348"/>
            <a:ext cx="6180181" cy="175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b="1" kern="0" spc="-37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rPr>
              <a:t>Bank Marketing Campaign Response Prediction</a:t>
            </a:r>
            <a:endParaRPr lang="en-US" sz="4800" b="1" dirty="0">
              <a:latin typeface="Segoe UI Black" panose="020B0A02040204020203" pitchFamily="34" charset="0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74171" y="4130909"/>
            <a:ext cx="6180181" cy="91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Multi‑Model Machine Learning Approach to Predicting Customer Term‑Deposit Subscriptions</a:t>
            </a:r>
            <a:endParaRPr lang="en-US" sz="2000" dirty="0"/>
          </a:p>
        </p:txBody>
      </p:sp>
      <p:grpSp>
        <p:nvGrpSpPr>
          <p:cNvPr id="5" name="Group 3"/>
          <p:cNvGrpSpPr/>
          <p:nvPr/>
        </p:nvGrpSpPr>
        <p:grpSpPr>
          <a:xfrm>
            <a:off x="6065362" y="-253275"/>
            <a:ext cx="8408284" cy="8569234"/>
            <a:chOff x="0" y="0"/>
            <a:chExt cx="812800" cy="812800"/>
          </a:xfrm>
        </p:grpSpPr>
        <p:sp>
          <p:nvSpPr>
            <p:cNvPr id="6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  <a:softEdge rad="635000"/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sz="4800" dirty="0"/>
            </a:p>
          </p:txBody>
        </p:sp>
      </p:grpSp>
      <p:sp>
        <p:nvSpPr>
          <p:cNvPr id="18" name="Freeform 16"/>
          <p:cNvSpPr/>
          <p:nvPr/>
        </p:nvSpPr>
        <p:spPr>
          <a:xfrm>
            <a:off x="2894476" y="8315959"/>
            <a:ext cx="8779632" cy="1733977"/>
          </a:xfrm>
          <a:custGeom>
            <a:avLst/>
            <a:gdLst/>
            <a:ahLst/>
            <a:cxnLst/>
            <a:rect l="l" t="t" r="r" b="b"/>
            <a:pathLst>
              <a:path w="8779632" h="1733977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6626330" y="2013731"/>
            <a:ext cx="5837136" cy="2769761"/>
            <a:chOff x="0" y="0"/>
            <a:chExt cx="7981950" cy="4578350"/>
          </a:xfrm>
        </p:grpSpPr>
        <p:sp>
          <p:nvSpPr>
            <p:cNvPr id="20" name="Freeform 20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t="-3261" b="-326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546" y="2201515"/>
            <a:ext cx="4428236" cy="2314153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502142" y="5182504"/>
            <a:ext cx="6180181" cy="493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1800"/>
              </a:spcAft>
              <a:buNone/>
            </a:pPr>
            <a:r>
              <a:rPr lang="en-US" sz="2000" i="1" dirty="0"/>
              <a:t>Presented by: SANA ULLAH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6" y="1062373"/>
            <a:ext cx="10752067" cy="59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50" b="1" kern="0" spc="-37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old" pitchFamily="34" charset="-120"/>
              </a:rPr>
              <a:t>Business Problem</a:t>
            </a:r>
            <a:endParaRPr lang="en-US" sz="36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6630" y="1678397"/>
            <a:ext cx="8294292" cy="181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D3838"/>
                </a:solidFill>
                <a:latin typeface="Segoe UI Light" panose="020B0502040204020203" pitchFamily="34" charset="0"/>
                <a:ea typeface="Source Sans 3" pitchFamily="34" charset="-122"/>
                <a:cs typeface="Segoe UI Light" panose="020B0502040204020203" pitchFamily="34" charset="0"/>
              </a:rPr>
              <a:t>Banks run large outreach campaigns to sell term deposits. </a:t>
            </a:r>
          </a:p>
          <a:p>
            <a:pPr marL="0" indent="0">
              <a:lnSpc>
                <a:spcPct val="104000"/>
              </a:lnSpc>
              <a:buNone/>
            </a:pPr>
            <a:endParaRPr lang="en-US" sz="2400" dirty="0">
              <a:solidFill>
                <a:srgbClr val="3D3838"/>
              </a:solidFill>
              <a:latin typeface="Segoe UI Light" panose="020B0502040204020203" pitchFamily="34" charset="0"/>
              <a:ea typeface="Source Sans 3" pitchFamily="34" charset="-122"/>
              <a:cs typeface="Segoe UI Light" panose="020B0502040204020203" pitchFamily="34" charset="0"/>
            </a:endParaRPr>
          </a:p>
          <a:p>
            <a:pPr marL="342900" indent="-34290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D3838"/>
                </a:solidFill>
                <a:latin typeface="Segoe UI Light" panose="020B0502040204020203" pitchFamily="34" charset="0"/>
                <a:ea typeface="Source Sans 3" pitchFamily="34" charset="-122"/>
                <a:cs typeface="Segoe UI Light" panose="020B0502040204020203" pitchFamily="34" charset="0"/>
              </a:rPr>
              <a:t>Contacting every customer raises costs </a:t>
            </a:r>
          </a:p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3D3838"/>
                </a:solidFill>
                <a:latin typeface="Segoe UI Light" panose="020B0502040204020203" pitchFamily="34" charset="0"/>
                <a:ea typeface="Source Sans 3" pitchFamily="34" charset="-122"/>
                <a:cs typeface="Segoe UI Light" panose="020B0502040204020203" pitchFamily="34" charset="0"/>
              </a:rPr>
              <a:t>and reduces efficiency.</a:t>
            </a:r>
          </a:p>
          <a:p>
            <a:pPr marL="342900" indent="-34290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D3838"/>
                </a:solidFill>
                <a:latin typeface="Segoe UI Light" panose="020B0502040204020203" pitchFamily="34" charset="0"/>
                <a:ea typeface="Source Sans 3" pitchFamily="34" charset="-122"/>
                <a:cs typeface="Segoe UI Light" panose="020B0502040204020203" pitchFamily="34" charset="0"/>
              </a:rPr>
              <a:t>Unnecessary marketing costs.</a:t>
            </a:r>
          </a:p>
          <a:p>
            <a:pPr marL="342900" indent="-34290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D3838"/>
                </a:solidFill>
                <a:latin typeface="Segoe UI Light" panose="020B0502040204020203" pitchFamily="34" charset="0"/>
                <a:ea typeface="Source Sans 3" pitchFamily="34" charset="-122"/>
                <a:cs typeface="Segoe UI Light" panose="020B0502040204020203" pitchFamily="34" charset="0"/>
              </a:rPr>
              <a:t>Inefficient customer targeting. </a:t>
            </a:r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629478" y="1339096"/>
            <a:ext cx="1967273" cy="804204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8285" y="4579281"/>
            <a:ext cx="69104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"Can machine learning identify customers who are more likely to subscribe to a term deposit before the bank invests resources in contacting them?"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/>
          <a:srcRect b="17526"/>
          <a:stretch/>
        </p:blipFill>
        <p:spPr>
          <a:xfrm>
            <a:off x="8741298" y="1459563"/>
            <a:ext cx="4737003" cy="5378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926" y="790476"/>
            <a:ext cx="10752067" cy="59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50" b="1" kern="0" spc="-37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old" pitchFamily="34" charset="-120"/>
              </a:rPr>
              <a:t>Project Objective</a:t>
            </a:r>
            <a:endParaRPr lang="en-US" sz="36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19813" y="2177653"/>
            <a:ext cx="5273146" cy="1443831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25489" y="2589014"/>
            <a:ext cx="48617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Primary Goal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5489" y="3004542"/>
            <a:ext cx="4861796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defensible classifier to predict term-deposit subscription prior to contact.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8636" y="2383334"/>
            <a:ext cx="5273245" cy="1443831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4311" y="2589014"/>
            <a:ext cx="486189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Analysis Goals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4311" y="3004542"/>
            <a:ext cx="4861895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EDA for business patterns, targeted feature engineering, robust preprocessing.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9814" y="4032845"/>
            <a:ext cx="5273146" cy="1443831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5489" y="4238526"/>
            <a:ext cx="4861796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Modeling Goals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5489" y="4654054"/>
            <a:ext cx="4861796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multiple models, validate via cross‑validation, tune KNN, compare metrics, select candidate.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8636" y="4032845"/>
            <a:ext cx="5273245" cy="1443831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4311" y="4238526"/>
            <a:ext cx="4861895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Decision Principle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4311" y="4654054"/>
            <a:ext cx="4861895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Prioritize evidence‑based model selection (metrics + business interpretability), not raw accuracy alone.</a:t>
            </a:r>
            <a:endParaRPr lang="en-US" sz="1600" dirty="0"/>
          </a:p>
        </p:txBody>
      </p:sp>
      <p:sp>
        <p:nvSpPr>
          <p:cNvPr id="15" name="Freeform 21"/>
          <p:cNvSpPr/>
          <p:nvPr/>
        </p:nvSpPr>
        <p:spPr>
          <a:xfrm>
            <a:off x="-4054092" y="197786"/>
            <a:ext cx="9392643" cy="9529477"/>
          </a:xfrm>
          <a:custGeom>
            <a:avLst/>
            <a:gdLst/>
            <a:ahLst/>
            <a:cxnLst/>
            <a:rect l="l" t="t" r="r" b="b"/>
            <a:pathLst>
              <a:path w="9392643" h="9529477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281" y="5700564"/>
            <a:ext cx="2273461" cy="23148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88571" y="584257"/>
            <a:ext cx="34419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EDA : Data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571" y="1237401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Histogram</a:t>
            </a:r>
          </a:p>
          <a:p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 Plot histograms of all numerical features and observed that some features are highly right-skewed, Which needs special treatment (Reduce skewness) in </a:t>
            </a:r>
            <a:r>
              <a:rPr lang="en-US" sz="24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Data preprocessing. </a:t>
            </a:r>
          </a:p>
          <a:p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n-US" sz="24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Boxplot</a:t>
            </a:r>
          </a:p>
          <a:p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Plot boxplot for all numerical features which shows multiple outilers, but after investigation, it seems to be a real data point. (Not Entry Error)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263" y="953589"/>
            <a:ext cx="4771871" cy="28484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086" y="4023360"/>
            <a:ext cx="4393048" cy="288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311649" y="605637"/>
            <a:ext cx="5139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EDA: CUSTOMER BEHAVIOR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571" y="1572123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Questions investigated:- </a:t>
            </a:r>
          </a:p>
          <a:p>
            <a:endParaRPr lang="en-US" sz="2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How does subscription behavior vary across jobs?-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Does marital status relate to subscription behavior?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Do customers with Personal loans respond differently?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How Customers with housing loan respond 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Is customer engagement associated with subscription?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332" y="1572123"/>
            <a:ext cx="4871815" cy="5288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298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200" b="1" kern="0" spc="-18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old" pitchFamily="34" charset="-120"/>
              </a:rPr>
              <a:t>Business Insights </a:t>
            </a:r>
            <a:endParaRPr lang="en-US"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6227607" y="8312646"/>
            <a:ext cx="5250624" cy="34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Interpretation:</a:t>
            </a: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Customers without housing or personal loans show higher observed subscription rates. Single customers show relatively stronger responsiveness. Tertiary education segments show higher subscription propensity. These are observed associations — not causal claims.</a:t>
            </a:r>
            <a:endParaRPr lang="en-US" sz="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65" y="1062318"/>
            <a:ext cx="11116235" cy="5889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298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200" b="1" kern="0" spc="-18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old" pitchFamily="34" charset="-120"/>
              </a:rPr>
              <a:t>Business Insights </a:t>
            </a:r>
            <a:endParaRPr lang="en-US"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6227607" y="8312646"/>
            <a:ext cx="5250624" cy="34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Interpretation:</a:t>
            </a: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Customers without housing or personal loans show higher observed subscription rates. Single customers show relatively stronger responsiveness. Tertiary education segments show higher subscription propensity. These are observed associations — not causal claims.</a:t>
            </a:r>
            <a:endParaRPr lang="en-US" sz="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781" y="1502229"/>
            <a:ext cx="6219219" cy="53405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1502229"/>
            <a:ext cx="5564777" cy="518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71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298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200" b="1" kern="0" spc="-18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old" pitchFamily="34" charset="-120"/>
              </a:rPr>
              <a:t>Business Insights</a:t>
            </a:r>
            <a:endParaRPr lang="en-US"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6227607" y="8312646"/>
            <a:ext cx="5250624" cy="34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Interpretation:</a:t>
            </a: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Customers without housing or personal loans show higher observed subscription rates. Single customers show relatively stronger responsiveness. Tertiary education segments show higher subscription propensity. These are observed associations — not causal claims.</a:t>
            </a:r>
            <a:endParaRPr lang="en-US" sz="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607" y="1867989"/>
            <a:ext cx="6772275" cy="50758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" y="1608160"/>
            <a:ext cx="6553200" cy="53356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0417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85589"/>
            <a:ext cx="10752067" cy="97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/>
              <a:t>Data Pre-processing </a:t>
            </a:r>
          </a:p>
        </p:txBody>
      </p:sp>
      <p:sp>
        <p:nvSpPr>
          <p:cNvPr id="11" name="Text 8"/>
          <p:cNvSpPr/>
          <p:nvPr/>
        </p:nvSpPr>
        <p:spPr>
          <a:xfrm>
            <a:off x="876566" y="2712531"/>
            <a:ext cx="9325529" cy="1323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spcAft>
                <a:spcPts val="950"/>
              </a:spcAft>
              <a:buNone/>
            </a:pPr>
            <a:r>
              <a:rPr lang="en-US" dirty="0">
                <a:solidFill>
                  <a:srgbClr val="3D3838"/>
                </a:solidFill>
                <a:latin typeface="Segoe UI Light" panose="020B0502040204020203" pitchFamily="34" charset="0"/>
                <a:ea typeface="Source Sans 3" pitchFamily="34" charset="-122"/>
                <a:cs typeface="Segoe UI Light" panose="020B0502040204020203" pitchFamily="34" charset="0"/>
              </a:rPr>
              <a:t>Numeric → Transformation -&gt;scaling (StandardScaler); </a:t>
            </a:r>
          </a:p>
          <a:p>
            <a:pPr marL="0" indent="0" algn="l">
              <a:lnSpc>
                <a:spcPct val="114000"/>
              </a:lnSpc>
              <a:spcAft>
                <a:spcPts val="950"/>
              </a:spcAft>
              <a:buNone/>
            </a:pPr>
            <a:r>
              <a:rPr lang="en-US" dirty="0">
                <a:solidFill>
                  <a:srgbClr val="3D3838"/>
                </a:solidFill>
                <a:latin typeface="Segoe UI Light" panose="020B0502040204020203" pitchFamily="34" charset="0"/>
                <a:ea typeface="Source Sans 3" pitchFamily="34" charset="-122"/>
                <a:cs typeface="Segoe UI Light" panose="020B0502040204020203" pitchFamily="34" charset="0"/>
              </a:rPr>
              <a:t>Categorical → OneHotEncoder(handle_unknown="ignore"); </a:t>
            </a:r>
          </a:p>
          <a:p>
            <a:pPr marL="0" indent="0" algn="l">
              <a:lnSpc>
                <a:spcPct val="114000"/>
              </a:lnSpc>
              <a:spcAft>
                <a:spcPts val="950"/>
              </a:spcAft>
              <a:buNone/>
            </a:pPr>
            <a:r>
              <a:rPr lang="en-US" dirty="0">
                <a:solidFill>
                  <a:srgbClr val="3D3838"/>
                </a:solidFill>
                <a:latin typeface="Segoe UI Light" panose="020B0502040204020203" pitchFamily="34" charset="0"/>
                <a:ea typeface="Source Sans 3" pitchFamily="34" charset="-122"/>
                <a:cs typeface="Segoe UI Light" panose="020B0502040204020203" pitchFamily="34" charset="0"/>
              </a:rPr>
              <a:t>Combined → full feature matrix.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b="1" dirty="0">
                <a:solidFill>
                  <a:srgbClr val="3D3838"/>
                </a:solidFill>
                <a:latin typeface="Segoe UI Light" panose="020B0502040204020203" pitchFamily="34" charset="0"/>
                <a:ea typeface="Source Sans 3 Bold" pitchFamily="34" charset="-122"/>
                <a:cs typeface="Segoe UI Light" panose="020B0502040204020203" pitchFamily="34" charset="0"/>
              </a:rPr>
              <a:t>Why scaling:</a:t>
            </a:r>
            <a:r>
              <a:rPr lang="en-US" dirty="0">
                <a:solidFill>
                  <a:srgbClr val="3D3838"/>
                </a:solidFill>
                <a:latin typeface="Segoe UI Light" panose="020B0502040204020203" pitchFamily="34" charset="0"/>
                <a:ea typeface="Source Sans 3" pitchFamily="34" charset="-122"/>
                <a:cs typeface="Segoe UI Light" panose="020B0502040204020203" pitchFamily="34" charset="0"/>
              </a:rPr>
              <a:t> required for distance‑based models (KNN) and scale‑sensitive models (SVM).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846" y="1240972"/>
            <a:ext cx="2762940" cy="58078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557" y="565646"/>
            <a:ext cx="10752067" cy="1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b="1" kern="0" spc="-18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old" pitchFamily="34" charset="-120"/>
              </a:rPr>
              <a:t>KNN CROSS-VALIDATION (Best K Value)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8557" y="154421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Baseline KNN Model : </a:t>
            </a:r>
          </a:p>
          <a:p>
            <a:endParaRPr lang="en-US" dirty="0"/>
          </a:p>
          <a:p>
            <a:r>
              <a:rPr lang="en-US" dirty="0"/>
              <a:t>Accuracy = 81.68%</a:t>
            </a:r>
          </a:p>
          <a:p>
            <a:r>
              <a:rPr lang="en-US" dirty="0"/>
              <a:t>Classification performance:</a:t>
            </a:r>
          </a:p>
          <a:p>
            <a:r>
              <a:rPr lang="en-US" dirty="0"/>
              <a:t>Class 0:Precision = 0.81Recall = 0.84F1 = 0.83</a:t>
            </a:r>
          </a:p>
          <a:p>
            <a:r>
              <a:rPr lang="en-US" dirty="0"/>
              <a:t>Class 1:Precision = 0.82Recall = 0.79F1 = 0.80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549" y="1776548"/>
            <a:ext cx="7549787" cy="513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2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1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b="1" kern="0" spc="-18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old" pitchFamily="34" charset="-120"/>
              </a:rPr>
              <a:t>Baseline KNN vs Final KNN</a:t>
            </a:r>
            <a:endParaRPr lang="en-US"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154" y="1058091"/>
            <a:ext cx="8739053" cy="58521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298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18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old" pitchFamily="34" charset="-120"/>
              </a:rPr>
              <a:t>Models Comparison</a:t>
            </a:r>
            <a:endParaRPr lang="en-US"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754" y="1254034"/>
            <a:ext cx="9749246" cy="56039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298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18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old" pitchFamily="34" charset="-120"/>
              </a:rPr>
              <a:t> Final Model Selection</a:t>
            </a:r>
            <a:endParaRPr lang="en-US"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7770" y="4802920"/>
            <a:ext cx="62165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SVM was selected as the strongest-performing candidate among the evaluated models</a:t>
            </a:r>
          </a:p>
        </p:txBody>
      </p:sp>
      <p:grpSp>
        <p:nvGrpSpPr>
          <p:cNvPr id="6" name="Group 2"/>
          <p:cNvGrpSpPr/>
          <p:nvPr/>
        </p:nvGrpSpPr>
        <p:grpSpPr>
          <a:xfrm rot="5400000">
            <a:off x="2196669" y="218812"/>
            <a:ext cx="2674995" cy="5432792"/>
            <a:chOff x="0" y="0"/>
            <a:chExt cx="2106826" cy="2113092"/>
          </a:xfrm>
        </p:grpSpPr>
        <p:sp>
          <p:nvSpPr>
            <p:cNvPr id="7" name="Freeform 3"/>
            <p:cNvSpPr/>
            <p:nvPr/>
          </p:nvSpPr>
          <p:spPr>
            <a:xfrm>
              <a:off x="0" y="0"/>
              <a:ext cx="2106826" cy="2113092"/>
            </a:xfrm>
            <a:custGeom>
              <a:avLst/>
              <a:gdLst/>
              <a:ahLst/>
              <a:cxnLst/>
              <a:rect l="l" t="t" r="r" b="b"/>
              <a:pathLst>
                <a:path w="2106826" h="2113092">
                  <a:moveTo>
                    <a:pt x="0" y="0"/>
                  </a:moveTo>
                  <a:lnTo>
                    <a:pt x="2106826" y="0"/>
                  </a:lnTo>
                  <a:lnTo>
                    <a:pt x="2106826" y="2113092"/>
                  </a:lnTo>
                  <a:lnTo>
                    <a:pt x="0" y="2113092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4"/>
            <p:cNvSpPr txBox="1"/>
            <p:nvPr/>
          </p:nvSpPr>
          <p:spPr>
            <a:xfrm>
              <a:off x="0" y="-38100"/>
              <a:ext cx="2106826" cy="2151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1219202" y="2098652"/>
            <a:ext cx="6096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🏆 Final Model SVM achieved: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Accuracy : 85.54% </a:t>
            </a:r>
          </a:p>
          <a:p>
            <a:r>
              <a:rPr lang="en-US" dirty="0">
                <a:solidFill>
                  <a:schemeClr val="bg1"/>
                </a:solidFill>
              </a:rPr>
              <a:t>Precision : 88% </a:t>
            </a:r>
          </a:p>
          <a:p>
            <a:r>
              <a:rPr lang="en-US" dirty="0">
                <a:solidFill>
                  <a:schemeClr val="bg1"/>
                </a:solidFill>
              </a:rPr>
              <a:t>Recall: 82% </a:t>
            </a:r>
          </a:p>
          <a:p>
            <a:r>
              <a:rPr lang="en-US" dirty="0">
                <a:solidFill>
                  <a:schemeClr val="bg1"/>
                </a:solidFill>
              </a:rPr>
              <a:t>F1-score : 85%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352" y="5361918"/>
            <a:ext cx="5750057" cy="75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69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501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b="1" kern="0" spc="-18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Bold" pitchFamily="34" charset="-120"/>
              </a:rPr>
              <a:t> </a:t>
            </a:r>
            <a:r>
              <a:rPr lang="en-US" sz="32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Business Impact</a:t>
            </a:r>
          </a:p>
        </p:txBody>
      </p:sp>
      <p:grpSp>
        <p:nvGrpSpPr>
          <p:cNvPr id="6" name="Group 2"/>
          <p:cNvGrpSpPr/>
          <p:nvPr/>
        </p:nvGrpSpPr>
        <p:grpSpPr>
          <a:xfrm rot="5400000">
            <a:off x="1155828" y="1564135"/>
            <a:ext cx="5085479" cy="5432792"/>
            <a:chOff x="0" y="0"/>
            <a:chExt cx="2106826" cy="2113092"/>
          </a:xfrm>
        </p:grpSpPr>
        <p:sp>
          <p:nvSpPr>
            <p:cNvPr id="7" name="Freeform 3"/>
            <p:cNvSpPr/>
            <p:nvPr/>
          </p:nvSpPr>
          <p:spPr>
            <a:xfrm>
              <a:off x="0" y="0"/>
              <a:ext cx="2106826" cy="2113092"/>
            </a:xfrm>
            <a:custGeom>
              <a:avLst/>
              <a:gdLst/>
              <a:ahLst/>
              <a:cxnLst/>
              <a:rect l="l" t="t" r="r" b="b"/>
              <a:pathLst>
                <a:path w="2106826" h="2113092">
                  <a:moveTo>
                    <a:pt x="0" y="0"/>
                  </a:moveTo>
                  <a:lnTo>
                    <a:pt x="2106826" y="0"/>
                  </a:lnTo>
                  <a:lnTo>
                    <a:pt x="2106826" y="2113092"/>
                  </a:lnTo>
                  <a:lnTo>
                    <a:pt x="0" y="2113092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4"/>
            <p:cNvSpPr txBox="1"/>
            <p:nvPr/>
          </p:nvSpPr>
          <p:spPr>
            <a:xfrm>
              <a:off x="0" y="-38100"/>
              <a:ext cx="2106826" cy="2151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3" name="Rectangle 2"/>
          <p:cNvSpPr/>
          <p:nvPr/>
        </p:nvSpPr>
        <p:spPr>
          <a:xfrm>
            <a:off x="1063072" y="2484046"/>
            <a:ext cx="536537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Customer Data</a:t>
            </a:r>
            <a:b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       ↓</a:t>
            </a:r>
            <a:b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Machine Learning Model</a:t>
            </a:r>
            <a:b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       ↓</a:t>
            </a:r>
            <a:b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Predict Customer Response</a:t>
            </a:r>
            <a:b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        ↓</a:t>
            </a:r>
            <a:b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Identify High-Potential Customers</a:t>
            </a:r>
            <a:b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        ↓</a:t>
            </a:r>
            <a:b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Targeted Marketing</a:t>
            </a:r>
            <a:b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            ↓</a:t>
            </a:r>
          </a:p>
          <a:p>
            <a:r>
              <a:rPr lang="en-US" sz="24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Better Resource Allocation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1208" y="848645"/>
            <a:ext cx="7794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Turning Customer Data into Smarter Marketing Decisions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7096" y="2797118"/>
            <a:ext cx="549836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Better Targeting </a:t>
            </a:r>
            <a:r>
              <a:rPr lang="en-US" dirty="0"/>
              <a:t>Focus marketing efforts on customers with a higher predicted likelihood of subscribing.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Lower Campaign Waste </a:t>
            </a:r>
            <a:r>
              <a:rPr lang="en-US" dirty="0"/>
              <a:t>Reduce unnecessary outreach to customers who are less likely to respond.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Data-Driven Decisions </a:t>
            </a:r>
            <a:r>
              <a:rPr lang="en-US" dirty="0"/>
              <a:t>Move from broad customer targeting to evidence-based customer prioritization.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688109" y="5956663"/>
            <a:ext cx="1933303" cy="901337"/>
          </a:xfrm>
          <a:prstGeom prst="ellipse">
            <a:avLst/>
          </a:prstGeom>
          <a:effectLst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329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3352800" y="2565400"/>
            <a:ext cx="5188856" cy="13362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674"/>
              </a:lnSpc>
              <a:spcBef>
                <a:spcPct val="0"/>
              </a:spcBef>
            </a:pPr>
            <a:r>
              <a:rPr lang="en-US" sz="6400" dirty="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9990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613</Words>
  <Application>Microsoft Office PowerPoint</Application>
  <PresentationFormat>Widescreen</PresentationFormat>
  <Paragraphs>90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Segoe UI Light</vt:lpstr>
      <vt:lpstr>Montserrat Bold</vt:lpstr>
      <vt:lpstr>Open Sans Extra Bold</vt:lpstr>
      <vt:lpstr>Wingdings</vt:lpstr>
      <vt:lpstr>Segoe UI Black</vt:lpstr>
      <vt:lpstr>Arial</vt:lpstr>
      <vt:lpstr>Segoe UI Historic</vt:lpstr>
      <vt:lpstr>Source Sans 3 Bold</vt:lpstr>
      <vt:lpstr>Source Sans 3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sana ullah</cp:lastModifiedBy>
  <cp:revision>23</cp:revision>
  <dcterms:created xsi:type="dcterms:W3CDTF">2026-08-21T02:51:25Z</dcterms:created>
  <dcterms:modified xsi:type="dcterms:W3CDTF">2026-10-03T13:20:11Z</dcterms:modified>
</cp:coreProperties>
</file>